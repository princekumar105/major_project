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79" r:id="rId7"/>
    <p:sldId id="260" r:id="rId8"/>
    <p:sldId id="280" r:id="rId9"/>
    <p:sldId id="273" r:id="rId10"/>
    <p:sldId id="274" r:id="rId11"/>
    <p:sldId id="281" r:id="rId12"/>
    <p:sldId id="282" r:id="rId13"/>
    <p:sldId id="283" r:id="rId14"/>
    <p:sldId id="278" r:id="rId15"/>
    <p:sldId id="277" r:id="rId16"/>
    <p:sldId id="263" r:id="rId17"/>
    <p:sldId id="266" r:id="rId18"/>
    <p:sldId id="267" r:id="rId19"/>
    <p:sldId id="268" r:id="rId20"/>
    <p:sldId id="264" r:id="rId21"/>
    <p:sldId id="284" r:id="rId22"/>
    <p:sldId id="269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71" userDrawn="1">
          <p15:clr>
            <a:srgbClr val="A4A3A4"/>
          </p15:clr>
        </p15:guide>
        <p15:guide id="2" pos="21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54180"/>
    <a:srgbClr val="FA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howGuides="1">
      <p:cViewPr varScale="1">
        <p:scale>
          <a:sx n="81" d="100"/>
          <a:sy n="81" d="100"/>
        </p:scale>
        <p:origin x="754" y="53"/>
      </p:cViewPr>
      <p:guideLst>
        <p:guide orient="horz" pos="2871"/>
        <p:guide pos="215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7th_Semester_Project_Prsentation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7th_Semester_Project_Prsentation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7th_Semester_Project_Prsentation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7th_Semester_Project_Prsentation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7th_Semester_Project_Prsentation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7th_Semester_Project_Prsentation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5972" y="571626"/>
            <a:ext cx="10919409" cy="1023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72048" y="1487804"/>
            <a:ext cx="6392545" cy="4423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7th_Semester_Project_Prsentation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" y="152273"/>
            <a:ext cx="12192000" cy="6531864"/>
            <a:chOff x="0" y="163068"/>
            <a:chExt cx="12192000" cy="6531864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3359" y="163068"/>
              <a:ext cx="11765280" cy="65318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382012"/>
              <a:ext cx="12192000" cy="1960245"/>
            </a:xfrm>
            <a:custGeom>
              <a:avLst/>
              <a:gdLst/>
              <a:ahLst/>
              <a:cxnLst/>
              <a:rect l="l" t="t" r="r" b="b"/>
              <a:pathLst>
                <a:path w="12192000" h="1960245">
                  <a:moveTo>
                    <a:pt x="12192000" y="0"/>
                  </a:moveTo>
                  <a:lnTo>
                    <a:pt x="0" y="0"/>
                  </a:lnTo>
                  <a:lnTo>
                    <a:pt x="0" y="1959864"/>
                  </a:lnTo>
                  <a:lnTo>
                    <a:pt x="12192000" y="195986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94624" y="2675255"/>
            <a:ext cx="4081527" cy="142113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5600" indent="-342900" algn="l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18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Arjoyeeta Chakraborty -2304014</a:t>
            </a:r>
            <a:endParaRPr sz="1800" u="none" strike="noStrike" kern="0" cap="none" spc="0" normalizeH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l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8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adhika Das- 2304113</a:t>
            </a:r>
            <a:endParaRPr sz="1800" u="none" strike="noStrike" kern="0" cap="none" spc="0" normalizeH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l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Prince Kumar- 2304105</a:t>
            </a:r>
            <a:br>
              <a:rPr lang="en-US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="1"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2496820"/>
            <a:ext cx="6917690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altLang="en-IN" sz="3200" b="1" dirty="0">
                <a:solidFill>
                  <a:srgbClr val="054180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Development of a TinyML-based ECG and fall detection system</a:t>
            </a:r>
            <a:br>
              <a:rPr lang="en-IN" dirty="0">
                <a:latin typeface="Arial Black" panose="020B0A04020102020204" pitchFamily="34" charset="0"/>
                <a:cs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48200" y="5333872"/>
            <a:ext cx="7228205" cy="12940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sym typeface="+mn-ea"/>
              </a:rPr>
              <a:t>Project Supervisor </a:t>
            </a:r>
            <a:endParaRPr lang="en-US" sz="2000" b="1" dirty="0">
              <a:solidFill>
                <a:schemeClr val="bg1"/>
              </a:solidFill>
              <a:sym typeface="+mn-ea"/>
            </a:endParaRPr>
          </a:p>
          <a:p>
            <a:pPr algn="r"/>
            <a:r>
              <a:rPr lang="en-US" sz="2000" b="1" dirty="0">
                <a:solidFill>
                  <a:schemeClr val="bg1"/>
                </a:solidFill>
                <a:sym typeface="+mn-ea"/>
              </a:rPr>
              <a:t>Dr. Nirmal Kumar Rout</a:t>
            </a:r>
            <a:endParaRPr lang="en-US" sz="2000" b="1" dirty="0">
              <a:solidFill>
                <a:schemeClr val="bg1"/>
              </a:solidFill>
            </a:endParaRPr>
          </a:p>
          <a:p>
            <a:pPr algn="r"/>
            <a:r>
              <a:rPr lang="en-US" sz="2000" b="1" dirty="0">
                <a:solidFill>
                  <a:schemeClr val="bg1"/>
                </a:solidFill>
                <a:sym typeface="+mn-ea"/>
              </a:rPr>
              <a:t>School of Electronics Engineering</a:t>
            </a:r>
            <a:endParaRPr lang="en-US" sz="2000" b="1" dirty="0">
              <a:solidFill>
                <a:schemeClr val="bg1"/>
              </a:solidFill>
            </a:endParaRPr>
          </a:p>
          <a:p>
            <a:pPr algn="r"/>
            <a:r>
              <a:rPr lang="en-US" sz="2000" b="1" dirty="0">
                <a:solidFill>
                  <a:schemeClr val="bg1"/>
                </a:solidFill>
                <a:sym typeface="+mn-ea"/>
              </a:rPr>
              <a:t>KIIT Deemed to be University, Bhubaneswar</a:t>
            </a:r>
            <a:endParaRPr lang="en-US" sz="20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597390" y="304800"/>
            <a:ext cx="2594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Group ID: ETC_10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5"/>
                </a:lnTo>
                <a:lnTo>
                  <a:pt x="1219199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171472" y="0"/>
            <a:ext cx="5685790" cy="6858000"/>
          </a:xfrm>
          <a:custGeom>
            <a:avLst/>
            <a:gdLst/>
            <a:ahLst/>
            <a:cxnLst/>
            <a:rect l="l" t="t" r="r" b="b"/>
            <a:pathLst>
              <a:path w="5685790" h="6858000">
                <a:moveTo>
                  <a:pt x="5575323" y="0"/>
                </a:moveTo>
                <a:lnTo>
                  <a:pt x="1156982" y="0"/>
                </a:lnTo>
                <a:lnTo>
                  <a:pt x="0" y="6858000"/>
                </a:lnTo>
                <a:lnTo>
                  <a:pt x="4531408" y="6858000"/>
                </a:lnTo>
                <a:lnTo>
                  <a:pt x="5685247" y="18542"/>
                </a:lnTo>
                <a:lnTo>
                  <a:pt x="5575323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6934023" cy="615553"/>
          </a:xfrm>
          <a:prstGeom prst="rect">
            <a:avLst/>
          </a:prstGeom>
        </p:spPr>
        <p:txBody>
          <a:bodyPr/>
          <a:lstStyle/>
          <a:p>
            <a:r>
              <a:rPr sz="4000" b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TOPICS TO BE COVERED</a:t>
            </a:r>
            <a:endParaRPr sz="4000" b="1" dirty="0">
              <a:solidFill>
                <a:schemeClr val="bg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385" y="1371600"/>
            <a:ext cx="3191726" cy="51320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Introduction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+mn-ea"/>
              </a:rPr>
              <a:t>ECG Signal &amp; Processing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+mn-ea"/>
              </a:rPr>
              <a:t>Literature Survey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alt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Limitations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altLang="en-US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Objectives</a:t>
            </a:r>
            <a:endParaRPr lang="en-US" altLang="en-US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alt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Innovation in the project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Working Principle</a:t>
            </a:r>
            <a:r>
              <a:rPr lang="en-US" alt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of the proposed system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alt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Block Diagram of the proposed system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Hardware &amp; Software Requirements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+mn-ea"/>
              </a:rPr>
              <a:t>Cost Estimation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12700" indent="0">
              <a:lnSpc>
                <a:spcPct val="100000"/>
              </a:lnSpc>
              <a:spcBef>
                <a:spcPts val="890"/>
              </a:spcBef>
              <a:buFont typeface="Arial" panose="020B0604020202020204" pitchFamily="34" charset="0"/>
              <a:buNone/>
              <a:tabLst>
                <a:tab pos="240665" algn="l"/>
              </a:tabLst>
            </a:pPr>
            <a:endParaRPr lang="en-US" altLang="en-US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89073" y="1855470"/>
            <a:ext cx="3113531" cy="3147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238" y="1371441"/>
            <a:ext cx="2667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Future Scope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Conclusion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Timeline</a:t>
            </a:r>
            <a:endParaRPr lang="en-IN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References</a:t>
            </a:r>
            <a:endParaRPr lang="en-IN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>
                <a:solidFill>
                  <a:schemeClr val="bg1"/>
                </a:solidFill>
              </a:rPr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>
                <a:solidFill>
                  <a:schemeClr val="bg1"/>
                </a:solidFill>
              </a:rPr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7th_Semester_Project_Pr</a:t>
            </a:r>
            <a:r>
              <a:rPr lang="en-US">
                <a:solidFill>
                  <a:schemeClr val="bg1"/>
                </a:solidFill>
              </a:rPr>
              <a:t>e</a:t>
            </a:r>
            <a:r>
              <a:rPr>
                <a:solidFill>
                  <a:schemeClr val="bg1"/>
                </a:solidFill>
              </a:rPr>
              <a:t>sentation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" y="-635"/>
            <a:ext cx="12190730" cy="6858635"/>
          </a:xfrm>
          <a:custGeom>
            <a:avLst/>
            <a:gdLst/>
            <a:ahLst/>
            <a:cxnLst/>
            <a:rect l="l" t="t" r="r" b="b"/>
            <a:pathLst>
              <a:path w="11661775" h="6273165">
                <a:moveTo>
                  <a:pt x="11661648" y="0"/>
                </a:moveTo>
                <a:lnTo>
                  <a:pt x="0" y="0"/>
                </a:lnTo>
                <a:lnTo>
                  <a:pt x="0" y="6272783"/>
                </a:lnTo>
                <a:lnTo>
                  <a:pt x="11661648" y="6272783"/>
                </a:lnTo>
                <a:lnTo>
                  <a:pt x="116616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6145" y="457200"/>
            <a:ext cx="7849870" cy="676910"/>
          </a:xfrm>
          <a:prstGeom prst="rect">
            <a:avLst/>
          </a:prstGeom>
        </p:spPr>
        <p:txBody>
          <a:bodyPr/>
          <a:lstStyle/>
          <a:p>
            <a:r>
              <a:rPr b="1" dirty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INTRODUCTION</a:t>
            </a:r>
            <a:endParaRPr b="1" dirty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8160" y="1328420"/>
            <a:ext cx="10904855" cy="48552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ECG is one of the most widely used diagnostic tools in medicine</a:t>
            </a:r>
            <a:endParaRPr lang="en-US" altLang="en-US" sz="2400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Used in hospitals, ambulances, surgeries, and now wearables (smartwatches)</a:t>
            </a:r>
            <a:endParaRPr lang="en-US" altLang="en-US" sz="2400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Measures the heart's own electrical signal, beat by beat</a:t>
            </a:r>
            <a:endParaRPr lang="en-US" altLang="en-US" sz="2400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Most cardiac arrests occur outside hospitals, often unwitnessed</a:t>
            </a:r>
            <a:endParaRPr lang="en-US" altLang="en-US" sz="2400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Survival drops sharply with every minute of delayed response</a:t>
            </a:r>
            <a:endParaRPr lang="en-US" altLang="en-US" sz="2400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Need for continuous and portable cardiovascular monitoring </a:t>
            </a:r>
            <a:endParaRPr lang="en-IN" sz="2400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AE4D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Existing systems often focus on individual health parameters or depend on cloud-based processing </a:t>
            </a:r>
            <a:endParaRPr lang="en-IN" sz="2400" b="1" dirty="0">
              <a:solidFill>
                <a:srgbClr val="FAE4D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>
                <a:solidFill>
                  <a:schemeClr val="bg2"/>
                </a:solidFill>
              </a:rPr>
            </a:fld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>
                <a:solidFill>
                  <a:schemeClr val="bg2"/>
                </a:solidFill>
              </a:rPr>
            </a:fld>
            <a:endParaRPr>
              <a:solidFill>
                <a:schemeClr val="bg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5"/>
          </p:nvPr>
        </p:nvSpPr>
        <p:spPr>
          <a:xfrm>
            <a:off x="4145280" y="6400800"/>
            <a:ext cx="3901440" cy="276860"/>
          </a:xfrm>
        </p:spPr>
        <p:txBody>
          <a:bodyPr/>
          <a:lstStyle/>
          <a:p>
            <a:r>
              <a:rPr>
                <a:solidFill>
                  <a:schemeClr val="bg2"/>
                </a:solidFill>
              </a:rPr>
              <a:t>7th_Semester_Project_Pr</a:t>
            </a:r>
            <a:r>
              <a:rPr lang="en-US">
                <a:solidFill>
                  <a:schemeClr val="bg2"/>
                </a:solidFill>
              </a:rPr>
              <a:t>e</a:t>
            </a:r>
            <a:r>
              <a:rPr>
                <a:solidFill>
                  <a:schemeClr val="bg2"/>
                </a:solidFill>
              </a:rPr>
              <a:t>sentation</a:t>
            </a:r>
            <a:endParaRPr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/>
          <p:cNvSpPr/>
          <p:nvPr/>
        </p:nvSpPr>
        <p:spPr>
          <a:xfrm>
            <a:off x="311785" y="2106295"/>
            <a:ext cx="3840480" cy="39636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9753600" y="4259766"/>
            <a:ext cx="2057400" cy="370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Future Extension</a:t>
            </a:r>
            <a:endParaRPr lang="en-IN" b="1" u="sng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7820" y="2133600"/>
            <a:ext cx="3505200" cy="5318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400" b="1" u="sng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ECG Signal</a:t>
            </a:r>
            <a:endParaRPr lang="en-IN" sz="2400" b="1" u="sng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800" b="0" u="none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 wave → contraction of upper heart chambers</a:t>
            </a:r>
            <a:endParaRPr lang="en-US" altLang="en-US" sz="1800" b="0" u="none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800" b="0" u="none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QRS complex → main pumping action, strongest part of signal</a:t>
            </a:r>
            <a:endParaRPr lang="en-US" altLang="en-US" sz="1800" b="0" u="none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800" b="0" u="none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 wave → heart's electrical reset before next beat</a:t>
            </a:r>
            <a:endParaRPr lang="en-US" altLang="en-US" sz="1800" b="0" u="none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800" b="0" u="none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R-to-R interval → used to calculate heart rate &amp; detect arrhythmia</a:t>
            </a:r>
            <a:endParaRPr lang="en-US" altLang="en-US" sz="1800" b="0" u="none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800" b="0" u="none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Irregular R-R spacing indicates abnormal rhythm</a:t>
            </a:r>
            <a:endParaRPr lang="en-IN" sz="1800" b="0" u="none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IN" sz="1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IN" sz="1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91000" y="3276600"/>
            <a:ext cx="7315200" cy="3148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b="1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ECG Signal Processing</a:t>
            </a:r>
            <a:endParaRPr lang="en-IN" b="1" u="sng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Raw ECG Signal</a:t>
            </a:r>
            <a:r>
              <a:rPr lang="en-IN" sz="1400" b="1" dirty="0"/>
              <a:t>                     </a:t>
            </a:r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Noise Removal</a:t>
            </a:r>
            <a:r>
              <a:rPr lang="en-IN" sz="1400" b="1" dirty="0"/>
              <a:t>                  </a:t>
            </a:r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Baseline Wander Removal</a:t>
            </a:r>
            <a:br>
              <a:rPr lang="en-IN" sz="1400" dirty="0"/>
            </a:br>
            <a:r>
              <a:rPr lang="en-IN" sz="1400" dirty="0"/>
              <a:t>  </a:t>
            </a:r>
            <a:br>
              <a:rPr lang="en-IN" sz="1400" dirty="0"/>
            </a:br>
            <a:r>
              <a:rPr lang="en-IN" sz="1400" dirty="0"/>
              <a:t>                     </a:t>
            </a:r>
            <a:endParaRPr lang="en-IN" sz="1400" dirty="0"/>
          </a:p>
          <a:p>
            <a:pPr>
              <a:lnSpc>
                <a:spcPct val="150000"/>
              </a:lnSpc>
            </a:pPr>
            <a:r>
              <a:rPr lang="en-IN" sz="1400" b="1" dirty="0"/>
              <a:t>                                                                                            </a:t>
            </a:r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Band-Pass / Notch Filtering</a:t>
            </a: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Heart-Rate (BPM) Calculation</a:t>
            </a:r>
            <a:endParaRPr lang="en-IN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867400" y="395605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8115300" y="392811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9947275" y="403883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7772400" y="4914900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34000" y="4836479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R-Peak / QRS Detection</a:t>
            </a:r>
            <a:endParaRPr lang="en-IN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4610100" y="5029200"/>
            <a:ext cx="723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609887" y="5029200"/>
            <a:ext cx="0" cy="517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53400" y="5699228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 for ECG Analysis</a:t>
            </a:r>
            <a:endParaRPr lang="en-IN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239000" y="58674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2"/>
          <p:cNvSpPr txBox="1"/>
          <p:nvPr/>
        </p:nvSpPr>
        <p:spPr>
          <a:xfrm>
            <a:off x="228600" y="609600"/>
            <a:ext cx="8014970" cy="60388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600" u="none" strike="noStrike" kern="0" cap="none" spc="0" normalizeH="0" dirty="0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ECG S</a:t>
            </a:r>
            <a:r>
              <a:rPr lang="en-US" sz="3600" u="none" strike="noStrike" kern="0" cap="none" spc="0" normalizeH="0" dirty="0" err="1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i</a:t>
            </a:r>
            <a:r>
              <a:rPr lang="en-US" sz="3600" u="none" strike="noStrike" kern="0" cap="none" spc="0" normalizeH="0" dirty="0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gnal &amp; S</a:t>
            </a:r>
            <a:r>
              <a:rPr lang="en-US" sz="3600" u="none" strike="noStrike" kern="0" cap="none" spc="0" normalizeH="0" dirty="0" err="1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i</a:t>
            </a:r>
            <a:r>
              <a:rPr lang="en-US" sz="3600" u="none" strike="noStrike" kern="0" cap="none" spc="0" normalizeH="0" dirty="0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gnal </a:t>
            </a:r>
            <a:r>
              <a:rPr lang="en-US" sz="3600" u="none" strike="noStrike" kern="0" cap="none" spc="0" normalizeH="0" dirty="0" err="1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Pr</a:t>
            </a:r>
            <a:r>
              <a:rPr lang="en-US" sz="3600" u="none" strike="noStrike" kern="0" cap="none" spc="0" normalizeH="0" dirty="0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oces</a:t>
            </a:r>
            <a:r>
              <a:rPr lang="en-US" sz="3600" u="none" strike="noStrike" kern="0" cap="none" spc="0" normalizeH="0" dirty="0" err="1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si</a:t>
            </a:r>
            <a:r>
              <a:rPr lang="en-US" sz="3600" u="none" strike="noStrike" kern="0" cap="none" spc="0" normalizeH="0" dirty="0">
                <a:solidFill>
                  <a:srgbClr val="C00000"/>
                </a:solidFill>
                <a:uFillTx/>
                <a:latin typeface="Arial Black" panose="020B0A04020102020204" pitchFamily="34" charset="0"/>
                <a:cs typeface="Arial Black" panose="020B0A04020102020204" pitchFamily="34" charset="0"/>
              </a:rPr>
              <a:t>ng</a:t>
            </a:r>
            <a:endParaRPr lang="en-US" sz="3600" u="none" strike="noStrike" kern="0" cap="none" spc="0" normalizeH="0" dirty="0">
              <a:solidFill>
                <a:srgbClr val="C00000"/>
              </a:solidFill>
              <a:uFillTx/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2590"/>
          <a:stretch>
            <a:fillRect/>
          </a:stretch>
        </p:blipFill>
        <p:spPr>
          <a:xfrm>
            <a:off x="8839200" y="152400"/>
            <a:ext cx="2866390" cy="2962275"/>
          </a:xfrm>
          <a:prstGeom prst="rect">
            <a:avLst/>
          </a:prstGeom>
        </p:spPr>
      </p:pic>
      <p:sp>
        <p:nvSpPr>
          <p:cNvPr id="15" name="Date Placeholder 14"/>
          <p:cNvSpPr>
            <a:spLocks noGrp="1"/>
          </p:cNvSpPr>
          <p:nvPr>
            <p:ph type="dt" sz="half" idx="6"/>
          </p:nvPr>
        </p:nvSpPr>
        <p:spPr>
          <a:xfrm>
            <a:off x="304800" y="6477000"/>
            <a:ext cx="2804160" cy="342900"/>
          </a:xfrm>
        </p:spPr>
        <p:txBody>
          <a:bodyPr/>
          <a:lstStyle/>
          <a:p>
            <a:fld id="{1D8BD707-D9CF-40AE-B4C6-C98DA3205C09}" type="datetime8">
              <a:rPr lang="en-US">
                <a:solidFill>
                  <a:schemeClr val="tx1"/>
                </a:solidFill>
              </a:rPr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>
                <a:solidFill>
                  <a:schemeClr val="tx1"/>
                </a:solidFill>
              </a:rPr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5"/>
          </p:nvPr>
        </p:nvSpPr>
        <p:spPr>
          <a:xfrm>
            <a:off x="4114800" y="6477000"/>
            <a:ext cx="3901440" cy="276860"/>
          </a:xfrm>
        </p:spPr>
        <p:txBody>
          <a:bodyPr/>
          <a:lstStyle/>
          <a:p>
            <a:r>
              <a:rPr>
                <a:solidFill>
                  <a:schemeClr val="tx1"/>
                </a:solidFill>
              </a:rPr>
              <a:t>7th_Semester_Project_Pr</a:t>
            </a:r>
            <a:r>
              <a:rPr lang="en-US">
                <a:solidFill>
                  <a:schemeClr val="tx1"/>
                </a:solidFill>
              </a:rPr>
              <a:t>e</a:t>
            </a:r>
            <a:r>
              <a:rPr>
                <a:solidFill>
                  <a:schemeClr val="tx1"/>
                </a:solidFill>
              </a:rPr>
              <a:t>sentation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90345" y="457200"/>
            <a:ext cx="6944360" cy="645795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200" dirty="0">
                <a:latin typeface="Arial Black" panose="020B0A04020102020204" pitchFamily="34" charset="0"/>
                <a:cs typeface="Times New Roman" panose="02020603050405020304" pitchFamily="18" charset="0"/>
              </a:rPr>
              <a:t>     Literature  Survey...</a:t>
            </a:r>
            <a:endParaRPr lang="en-US" sz="42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1219200"/>
            <a:ext cx="10818495" cy="4791710"/>
          </a:xfrm>
          <a:prstGeom prst="rect">
            <a:avLst/>
          </a:prstGeom>
        </p:spPr>
        <p:txBody>
          <a:bodyPr vert="horz" wrap="square" lIns="0" tIns="40005" rIns="0" bIns="0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Nagarajan &amp; Polachan (2026) — Built an autoencoder-based TinyML model (ArrythML) running on an ESP32-S3 for arrhythmia detection, achieving 84% recall with just 9 ms inference time and a small ~180 KB model size. Used R-R interval segmentation instead of heavy QRS detection to keep it</a:t>
            </a:r>
            <a:r>
              <a:rPr lang="en-US" altLang="en-US" sz="20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 lightweight.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Gap: Only detects normal vs. abnormal — doesn't classify the specific arrhythmia type, and struggles with certain rhythm patterns [1].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Zambrano-de la Torre et al. (2026) — Deployed a quantized 1D-CNN on a low-cost Arduino UNO (under $25), achieving 97.6% accuracy in a 24 KB memory footprint.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Gap: Only tested on benchmark data, not real patients — no fall detection or multi-signal fusion [2].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>
          <a:xfrm>
            <a:off x="228600" y="6431915"/>
            <a:ext cx="2804160" cy="342900"/>
          </a:xfrm>
        </p:spPr>
        <p:txBody>
          <a:bodyPr/>
          <a:lstStyle/>
          <a:p>
            <a:fld id="{1D8BD707-D9CF-40AE-B4C6-C98DA3205C09}" type="datetime8">
              <a:rPr lang="en-US">
                <a:solidFill>
                  <a:schemeClr val="tx1"/>
                </a:solidFill>
              </a:rPr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>
          <a:xfrm>
            <a:off x="8839200" y="64008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5"/>
          </p:nvPr>
        </p:nvSpPr>
        <p:spPr>
          <a:xfrm>
            <a:off x="4038600" y="6431915"/>
            <a:ext cx="3901440" cy="276860"/>
          </a:xfrm>
        </p:spPr>
        <p:txBody>
          <a:bodyPr/>
          <a:lstStyle/>
          <a:p>
            <a:r>
              <a:rPr>
                <a:solidFill>
                  <a:schemeClr val="tx1"/>
                </a:solidFill>
              </a:rPr>
              <a:t>7th_Semester_Project_Pr</a:t>
            </a:r>
            <a:r>
              <a:rPr lang="en-US">
                <a:solidFill>
                  <a:schemeClr val="tx1"/>
                </a:solidFill>
              </a:rPr>
              <a:t>e</a:t>
            </a:r>
            <a:r>
              <a:rPr>
                <a:solidFill>
                  <a:schemeClr val="tx1"/>
                </a:solidFill>
              </a:rPr>
              <a:t>sentation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743200" y="638419"/>
            <a:ext cx="6453505" cy="645795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4200" dirty="0">
                <a:latin typeface="Arial Black" panose="020B0A04020102020204" pitchFamily="34" charset="0"/>
                <a:cs typeface="Times New Roman" panose="02020603050405020304" pitchFamily="18" charset="0"/>
              </a:rPr>
              <a:t>Literature  Survey</a:t>
            </a:r>
            <a:endParaRPr lang="en-US" sz="42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704" y="1284214"/>
            <a:ext cx="10818495" cy="4615815"/>
          </a:xfrm>
          <a:prstGeom prst="rect">
            <a:avLst/>
          </a:prstGeom>
        </p:spPr>
        <p:txBody>
          <a:bodyPr vert="horz" wrap="square" lIns="0" tIns="40005" rIns="0" bIns="0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altLang="en-US" sz="20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Chhoton &amp; Sharma (2024) — Reviewed IoMT-based wearable cardiac systems, showing rapid growth in this field (32% rise in publications by 2022), especially for arrhythmia and heart-failure monitoring.</a:t>
            </a:r>
            <a:endParaRPr lang="en-US" altLang="en-US" sz="2000" b="1" u="none" strike="noStrike" kern="0" cap="none" spc="0" normalizeH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Gap: Most devices lack power-efficient hardware and don't adapt to individual patients [3].</a:t>
            </a:r>
            <a:endParaRPr lang="en-US" altLang="en-US" sz="2000" b="1" u="none" strike="noStrike" kern="0" cap="none" spc="0" normalizeH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000" b="1" u="none" strike="noStrike" kern="0" cap="none" spc="0" normalizeH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altLang="en-US" sz="20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Moshawrab et al. (2023) — Reviewed 87 studies on smart wearables for cardiovascular detection, finding most ECG systems achieve 95–99% accuracy but depend on cloud processing.</a:t>
            </a:r>
            <a:endParaRPr lang="en-US" altLang="en-US" sz="2000" b="1" u="none" strike="noStrike" kern="0" cap="none" spc="0" normalizeH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u="none" strike="noStrike" kern="0" cap="none" spc="0" normalizeH="0" dirty="0">
                <a:latin typeface="Arial" panose="020B0604020202020204" pitchFamily="34" charset="0"/>
                <a:cs typeface="Arial" panose="020B0604020202020204" pitchFamily="34" charset="0"/>
              </a:rPr>
              <a:t>Gap: No reviewed study used on-device explainable AI, and none combined multiple data sources (like ECG + patient history) for better accuracy [4].</a:t>
            </a:r>
            <a:endParaRPr lang="en-US" altLang="en-US" sz="2000" b="1" u="none" strike="noStrike" kern="0" cap="none" spc="0" normalizeH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28600" y="1295400"/>
            <a:ext cx="11601450" cy="4812665"/>
          </a:xfrm>
          <a:prstGeom prst="rect">
            <a:avLst/>
          </a:prstGeom>
        </p:spPr>
        <p:txBody>
          <a:bodyPr vert="horz" wrap="square" lIns="0" tIns="113030" rIns="0" bIns="0" rtlCol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Limited integration: Many existing systems primarily focus on ECG monitoring, while relatively few combine ECG, SpO₂and fall detection in one portable embedded device. </a:t>
            </a:r>
            <a:endParaRPr lang="en-IN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Cloud dependency: Some AI-based monitoring systems rely on cloud processing, creating challenges related to latency, connectivity and continuous operation. Recent </a:t>
            </a:r>
            <a:r>
              <a:rPr lang="en-IN" sz="2000" b="1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TinyML</a:t>
            </a:r>
            <a:r>
              <a:rPr lang="en-IN" sz="2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research highlights on-device inference as an approach for real-time cardiovascular monitoring. </a:t>
            </a:r>
            <a:endParaRPr lang="en-IN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Limited offline intelligence: Continuous offline AI monitoring on low-resource embedded platforms remains an active research area.</a:t>
            </a:r>
            <a:endParaRPr lang="en-IN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887345" y="304800"/>
            <a:ext cx="6283960" cy="622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400" dirty="0">
                <a:latin typeface="Arial Black" panose="020B0A04020102020204" pitchFamily="34" charset="0"/>
                <a:cs typeface="Times New Roman" panose="02020603050405020304" pitchFamily="18" charset="0"/>
              </a:rPr>
              <a:t>Limitations...</a:t>
            </a:r>
            <a:endParaRPr lang="en-US" sz="44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28600" y="1676400"/>
            <a:ext cx="11590655" cy="4676140"/>
          </a:xfrm>
          <a:prstGeom prst="rect">
            <a:avLst/>
          </a:prstGeom>
        </p:spPr>
        <p:txBody>
          <a:bodyPr vert="horz" wrap="square" lIns="0" tIns="113030" rIns="0" bIns="0" rtlCol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Cost and portability: Commercial cardiac-monitoring solutions can be expensive, creating scope for low-cost, portable embedded healthcare systems. </a:t>
            </a:r>
            <a:endParaRPr lang="en-IN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0" lv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Need for intelligent emergency detection: Existing monitoring approaches provide an opportunity to combine cardiac abnormalities, vital signs and fall events into a unified emergency-detection mechanism</a:t>
            </a:r>
            <a:endParaRPr lang="en-IN" sz="20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Box 5"/>
          <p:cNvSpPr txBox="1"/>
          <p:nvPr/>
        </p:nvSpPr>
        <p:spPr>
          <a:xfrm>
            <a:off x="2954020" y="533400"/>
            <a:ext cx="6283960" cy="622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400" dirty="0">
                <a:latin typeface="Arial Black" panose="020B0A04020102020204" pitchFamily="34" charset="0"/>
                <a:cs typeface="Times New Roman" panose="02020603050405020304" pitchFamily="18" charset="0"/>
              </a:rPr>
              <a:t>Limitations</a:t>
            </a:r>
            <a:endParaRPr lang="en-US" sz="44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700" y="151765"/>
            <a:ext cx="11975465" cy="6320790"/>
          </a:xfrm>
          <a:custGeom>
            <a:avLst/>
            <a:gdLst/>
            <a:ahLst/>
            <a:cxnLst/>
            <a:rect l="l" t="t" r="r" b="b"/>
            <a:pathLst>
              <a:path w="11661775" h="6273165">
                <a:moveTo>
                  <a:pt x="11661648" y="0"/>
                </a:moveTo>
                <a:lnTo>
                  <a:pt x="0" y="0"/>
                </a:lnTo>
                <a:lnTo>
                  <a:pt x="0" y="6272783"/>
                </a:lnTo>
                <a:lnTo>
                  <a:pt x="11661648" y="6272783"/>
                </a:lnTo>
                <a:lnTo>
                  <a:pt x="1166164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06957" y="228726"/>
            <a:ext cx="10919409" cy="676910"/>
          </a:xfrm>
          <a:prstGeom prst="rect">
            <a:avLst/>
          </a:prstGeom>
          <a:solidFill>
            <a:srgbClr val="0070C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OBJECTIVES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700" y="609600"/>
            <a:ext cx="11716385" cy="622236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0" lv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Design a portable, battery-powered device that continuously reads a person's ECG in real time using chest electrodes.</a:t>
            </a:r>
            <a:endParaRPr lang="en-US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Process the raw ECG signal on an STM32 microcontroller using digital filtering, and calculate heart rate and detect rhythm irregularities.</a:t>
            </a:r>
            <a:endParaRPr lang="en-US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Develop and deploy a lightweight on-device AI (TinyML) model to classify heart rhythm as normal </a:t>
            </a:r>
            <a:b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or abnormal, with finer classification as a stretch goal.</a:t>
            </a:r>
            <a:endParaRPr lang="en-US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Integrate a motion sensor  to detect fall events in real time from the body's motion signal.</a:t>
            </a:r>
            <a:endParaRPr lang="en-US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Design a decision-fusion mechanism that raises a higher-priority alert when an abnormal rhythm </a:t>
            </a:r>
            <a:b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and a fall are detected together.</a:t>
            </a:r>
            <a:endParaRPr lang="en-US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Display real-time status on an on-device screen and trigger a local alarm, with no dependency on </a:t>
            </a:r>
            <a:b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internet or a paired computer for detection.</a:t>
            </a:r>
            <a:endParaRPr lang="en-US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Aptos" panose="020B0004020202020204" pitchFamily="34" charset="0"/>
              </a:rPr>
              <a:t>Evaluate the system's own measured accuracy, response time, and power consumption against relevant published work.</a:t>
            </a:r>
            <a:endParaRPr lang="en-US" alt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6"/>
          </p:nvPr>
        </p:nvSpPr>
        <p:spPr>
          <a:xfrm>
            <a:off x="304800" y="6477000"/>
            <a:ext cx="2804160" cy="342900"/>
          </a:xfrm>
        </p:spPr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>
          <a:xfrm>
            <a:off x="9022080" y="65151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5"/>
          </p:nvPr>
        </p:nvSpPr>
        <p:spPr>
          <a:xfrm>
            <a:off x="4114800" y="647700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4200" y="463827"/>
            <a:ext cx="876109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u="none" strike="noStrike" kern="0" cap="none" spc="0" normalizeH="0" dirty="0">
                <a:solidFill>
                  <a:srgbClr val="C0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Innovation in the project...</a:t>
            </a:r>
            <a:endParaRPr sz="4400" u="none" strike="noStrike" kern="0" cap="none" spc="0" normalizeH="0" dirty="0">
              <a:solidFill>
                <a:srgbClr val="C00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7000" y="1371600"/>
            <a:ext cx="9296400" cy="5412105"/>
          </a:xfrm>
          <a:prstGeom prst="rect">
            <a:avLst/>
          </a:prstGeom>
        </p:spPr>
        <p:txBody>
          <a:bodyPr vert="horz" wrap="square" lIns="0" tIns="113030" rIns="0" bIns="0" rtlCol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Multi-parameter monitoring: Integration of ECG, SpO₂and fall detection in a single system.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Real-time ECG analysis: Digital ECG processing including filtering, R-peak detection, and heart-rate calculation.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Edge AI / 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: Local ECG analysis and abnormality detection on the embedded platform, reducing dependence on cloud processing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-3048000" y="-61397"/>
            <a:ext cx="5372100" cy="6919397"/>
          </a:xfrm>
          <a:custGeom>
            <a:avLst/>
            <a:gdLst/>
            <a:ahLst/>
            <a:cxnLst/>
            <a:rect l="l" t="t" r="r" b="b"/>
            <a:pathLst>
              <a:path w="11661775" h="6273165">
                <a:moveTo>
                  <a:pt x="11661648" y="0"/>
                </a:moveTo>
                <a:lnTo>
                  <a:pt x="0" y="0"/>
                </a:lnTo>
                <a:lnTo>
                  <a:pt x="0" y="6272783"/>
                </a:lnTo>
                <a:lnTo>
                  <a:pt x="11661648" y="6272783"/>
                </a:lnTo>
                <a:lnTo>
                  <a:pt x="1166164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>
          <a:xfrm>
            <a:off x="152400" y="6400800"/>
            <a:ext cx="2804160" cy="342900"/>
          </a:xfrm>
        </p:spPr>
        <p:txBody>
          <a:bodyPr/>
          <a:lstStyle/>
          <a:p>
            <a:fld id="{1D8BD707-D9CF-40AE-B4C6-C98DA3205C09}" type="datetime8">
              <a:rPr lang="en-US">
                <a:solidFill>
                  <a:schemeClr val="bg1"/>
                </a:solidFill>
              </a:rPr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590800" y="1295400"/>
            <a:ext cx="9372600" cy="39909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Intelligent emergency detection: Fusion of cardiac, vital-sign, and fall-detection information for emergency identification. </a:t>
            </a:r>
            <a:endParaRPr lang="en-IN" sz="24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Portable operation: Battery-powered embedded implementation for continuous monitoring. </a:t>
            </a:r>
            <a:endParaRPr lang="en-IN" sz="24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Emergency communication: GPS and GSM integration can be added for patient location and emergency alerts</a:t>
            </a:r>
            <a:r>
              <a:rPr lang="en-US" altLang="en-IN" sz="2400" b="1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as a future extension.</a:t>
            </a:r>
            <a:endParaRPr lang="en-US" altLang="en-IN" sz="2400" b="1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2"/>
          <p:cNvSpPr/>
          <p:nvPr/>
        </p:nvSpPr>
        <p:spPr>
          <a:xfrm>
            <a:off x="-3048000" y="-61397"/>
            <a:ext cx="5372100" cy="6919397"/>
          </a:xfrm>
          <a:custGeom>
            <a:avLst/>
            <a:gdLst/>
            <a:ahLst/>
            <a:cxnLst/>
            <a:rect l="l" t="t" r="r" b="b"/>
            <a:pathLst>
              <a:path w="11661775" h="6273165">
                <a:moveTo>
                  <a:pt x="11661648" y="0"/>
                </a:moveTo>
                <a:lnTo>
                  <a:pt x="0" y="0"/>
                </a:lnTo>
                <a:lnTo>
                  <a:pt x="0" y="6272783"/>
                </a:lnTo>
                <a:lnTo>
                  <a:pt x="11661648" y="6272783"/>
                </a:lnTo>
                <a:lnTo>
                  <a:pt x="116616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2"/>
          <p:cNvSpPr txBox="1"/>
          <p:nvPr/>
        </p:nvSpPr>
        <p:spPr>
          <a:xfrm>
            <a:off x="3454200" y="463827"/>
            <a:ext cx="876109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u="none" strike="noStrike" kern="0" cap="none" spc="0" normalizeH="0" dirty="0">
                <a:solidFill>
                  <a:srgbClr val="C0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Innovation in the project</a:t>
            </a:r>
            <a:endParaRPr sz="4400" u="none" strike="noStrike" kern="0" cap="none" spc="0" normalizeH="0" dirty="0">
              <a:solidFill>
                <a:srgbClr val="C00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>
          <a:xfrm>
            <a:off x="152400" y="6324600"/>
            <a:ext cx="2804160" cy="342900"/>
          </a:xfrm>
        </p:spPr>
        <p:txBody>
          <a:bodyPr/>
          <a:lstStyle/>
          <a:p>
            <a:fld id="{1D8BD707-D9CF-40AE-B4C6-C98DA3205C09}" type="datetime8">
              <a:rPr lang="en-US">
                <a:solidFill>
                  <a:schemeClr val="bg1"/>
                </a:solidFill>
              </a:rPr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919174"/>
            <a:ext cx="3048000" cy="2814626"/>
          </a:xfrm>
          <a:prstGeom prst="rect">
            <a:avLst/>
          </a:prstGeom>
          <a:solidFill>
            <a:srgbClr val="0541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/>
          <p:nvPr/>
        </p:nvSpPr>
        <p:spPr>
          <a:xfrm>
            <a:off x="142875" y="177165"/>
            <a:ext cx="1181989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400" u="none" strike="noStrike" kern="0" cap="none" spc="0" normalizeH="0" dirty="0">
                <a:solidFill>
                  <a:srgbClr val="054180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Work</a:t>
            </a:r>
            <a:r>
              <a:rPr lang="en-US" sz="4400" u="none" strike="noStrike" kern="0" cap="none" spc="0" normalizeH="0" dirty="0" err="1">
                <a:solidFill>
                  <a:srgbClr val="054180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i</a:t>
            </a:r>
            <a:r>
              <a:rPr lang="en-US" sz="4400" u="none" strike="noStrike" kern="0" cap="none" spc="0" normalizeH="0" dirty="0">
                <a:solidFill>
                  <a:srgbClr val="054180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ng Pr</a:t>
            </a:r>
            <a:r>
              <a:rPr lang="en-US" sz="4400" u="none" strike="noStrike" kern="0" cap="none" spc="0" normalizeH="0" dirty="0" err="1">
                <a:solidFill>
                  <a:srgbClr val="054180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i</a:t>
            </a:r>
            <a:r>
              <a:rPr lang="en-US" sz="4400" u="none" strike="noStrike" kern="0" cap="none" spc="0" normalizeH="0" dirty="0">
                <a:solidFill>
                  <a:srgbClr val="054180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nc</a:t>
            </a:r>
            <a:r>
              <a:rPr lang="en-US" sz="4400" u="none" strike="noStrike" kern="0" cap="none" spc="0" normalizeH="0" dirty="0" err="1">
                <a:solidFill>
                  <a:srgbClr val="054180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i</a:t>
            </a:r>
            <a:r>
              <a:rPr lang="en-US" sz="4400" u="none" strike="noStrike" kern="0" cap="none" spc="0" normalizeH="0" dirty="0">
                <a:solidFill>
                  <a:srgbClr val="054180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ple of Proposed System</a:t>
            </a:r>
            <a:endParaRPr lang="en-US" sz="4400" u="none" strike="noStrike" kern="0" cap="none" spc="0" normalizeH="0" dirty="0">
              <a:solidFill>
                <a:srgbClr val="054180"/>
              </a:solidFill>
              <a:uFillTx/>
              <a:latin typeface="Arial Black" panose="020B0A04020102020204" pitchFamily="34" charset="0"/>
              <a:cs typeface="Tahoma" panose="020B060403050404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0" y="3962400"/>
            <a:ext cx="3048000" cy="2814626"/>
          </a:xfrm>
          <a:prstGeom prst="rect">
            <a:avLst/>
          </a:prstGeom>
          <a:solidFill>
            <a:srgbClr val="0541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096000" y="995373"/>
            <a:ext cx="3048000" cy="2814626"/>
          </a:xfrm>
          <a:prstGeom prst="rect">
            <a:avLst/>
          </a:prstGeom>
          <a:solidFill>
            <a:srgbClr val="0541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2" name="Rectangle 11"/>
          <p:cNvSpPr/>
          <p:nvPr/>
        </p:nvSpPr>
        <p:spPr>
          <a:xfrm>
            <a:off x="9144000" y="3993573"/>
            <a:ext cx="3048000" cy="2814626"/>
          </a:xfrm>
          <a:prstGeom prst="rect">
            <a:avLst/>
          </a:prstGeom>
          <a:solidFill>
            <a:srgbClr val="0541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304800" y="1447800"/>
            <a:ext cx="243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ECG </a:t>
            </a:r>
            <a:r>
              <a:rPr lang="en-IN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Acquisition</a:t>
            </a:r>
            <a:endParaRPr lang="en-IN" b="1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dirty="0"/>
          </a:p>
          <a:p>
            <a:pPr algn="just"/>
            <a:r>
              <a:rPr lang="en-IN" b="1" dirty="0">
                <a:solidFill>
                  <a:schemeClr val="bg1"/>
                </a:solidFill>
              </a:rPr>
              <a:t>ECG electrodes acquire the cardiac signal through the AD8232 ECG front-end.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97369" y="2048457"/>
            <a:ext cx="27492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054180"/>
                </a:solidFill>
              </a:rPr>
              <a:t>STM32 performs ECG </a:t>
            </a:r>
            <a:r>
              <a:rPr lang="en-IN" b="1" dirty="0">
                <a:solidFill>
                  <a:srgbClr val="0541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filtering</a:t>
            </a:r>
            <a:r>
              <a:rPr lang="en-IN" b="1" dirty="0">
                <a:solidFill>
                  <a:srgbClr val="054180"/>
                </a:solidFill>
              </a:rPr>
              <a:t>, R-peak detection and heart-rate calculation.</a:t>
            </a:r>
            <a:endParaRPr lang="en-IN" b="1" dirty="0">
              <a:solidFill>
                <a:srgbClr val="05418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97369" y="1439041"/>
            <a:ext cx="2749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u="sng" dirty="0">
                <a:solidFill>
                  <a:srgbClr val="054180"/>
                </a:solidFill>
              </a:rPr>
              <a:t>Signal Processing</a:t>
            </a:r>
            <a:endParaRPr lang="en-IN" b="1" u="sng" dirty="0">
              <a:solidFill>
                <a:srgbClr val="05418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7630" y="1909957"/>
            <a:ext cx="2667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Processed ECG data is </a:t>
            </a:r>
            <a:r>
              <a:rPr lang="en-I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a lightweight Edge-AI model for cardiac abnormality detection.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05600" y="1447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n-IN" b="1" u="sng" dirty="0">
                <a:solidFill>
                  <a:schemeClr val="bg1"/>
                </a:solidFill>
              </a:rPr>
              <a:t> Analysis</a:t>
            </a:r>
            <a:endParaRPr lang="en-IN" b="1" u="sng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72600" y="1942578"/>
            <a:ext cx="2667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54180"/>
                </a:solidFill>
              </a:rPr>
              <a:t>MAX30102 measures SpO₂ and pulse rate</a:t>
            </a:r>
            <a:endParaRPr lang="en-IN" b="1" dirty="0">
              <a:solidFill>
                <a:srgbClr val="05418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77400" y="1439041"/>
            <a:ext cx="1981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541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Vital Monitoring</a:t>
            </a:r>
            <a:endParaRPr lang="en-IN" b="1" u="sng" dirty="0">
              <a:solidFill>
                <a:srgbClr val="0541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800" y="4800600"/>
            <a:ext cx="2438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IN" b="1" dirty="0">
                <a:solidFill>
                  <a:srgbClr val="054180"/>
                </a:solidFill>
              </a:rPr>
              <a:t>LSM6DSO</a:t>
            </a:r>
            <a:r>
              <a:rPr lang="en-IN" b="1" dirty="0">
                <a:solidFill>
                  <a:srgbClr val="054180"/>
                </a:solidFill>
              </a:rPr>
              <a:t> monitors motion and orientation to detect </a:t>
            </a:r>
            <a:r>
              <a:rPr lang="en-IN" b="1" dirty="0">
                <a:solidFill>
                  <a:srgbClr val="0541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possible</a:t>
            </a:r>
            <a:r>
              <a:rPr lang="en-IN" b="1" dirty="0">
                <a:solidFill>
                  <a:srgbClr val="054180"/>
                </a:solidFill>
              </a:rPr>
              <a:t> falls.</a:t>
            </a:r>
            <a:endParaRPr lang="en-IN" b="1" dirty="0">
              <a:solidFill>
                <a:srgbClr val="05418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00" y="420648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54180"/>
                </a:solidFill>
              </a:rPr>
              <a:t>Fall </a:t>
            </a:r>
            <a:r>
              <a:rPr lang="en-IN" b="1" u="sng" dirty="0">
                <a:solidFill>
                  <a:srgbClr val="0541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en-IN" b="1" u="sng" dirty="0">
              <a:solidFill>
                <a:srgbClr val="0541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08230" y="4800600"/>
            <a:ext cx="243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bg1"/>
                </a:solidFill>
              </a:rPr>
              <a:t>ECG, vital-sign and fall-detection results are combined to identify emergency conditions.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56084" y="4206489"/>
            <a:ext cx="1984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en-IN" b="1" u="sng" dirty="0">
                <a:solidFill>
                  <a:schemeClr val="bg1"/>
                </a:solidFill>
              </a:rPr>
              <a:t> Fusion</a:t>
            </a:r>
            <a:endParaRPr lang="en-IN" b="1" u="sng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4724583"/>
            <a:ext cx="25146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54180"/>
                </a:solidFill>
              </a:rPr>
              <a:t>Emergency conditions trigger the </a:t>
            </a:r>
            <a:r>
              <a:rPr lang="en-US" altLang="en-IN" b="1" dirty="0">
                <a:solidFill>
                  <a:srgbClr val="054180"/>
                </a:solidFill>
              </a:rPr>
              <a:t>TFT</a:t>
            </a:r>
            <a:r>
              <a:rPr lang="en-IN" b="1" dirty="0">
                <a:solidFill>
                  <a:srgbClr val="054180"/>
                </a:solidFill>
              </a:rPr>
              <a:t> display, buzzer and LED alerts.</a:t>
            </a:r>
            <a:endParaRPr lang="en-IN" b="1" dirty="0">
              <a:solidFill>
                <a:srgbClr val="05418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400" y="423295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054180"/>
                </a:solidFill>
              </a:rPr>
              <a:t>Alert </a:t>
            </a:r>
            <a:r>
              <a:rPr lang="en-IN" b="1" u="sng" dirty="0">
                <a:solidFill>
                  <a:srgbClr val="0541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  <a:endParaRPr lang="en-IN" b="1" u="sng" dirty="0">
              <a:solidFill>
                <a:srgbClr val="0541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48800" y="4734974"/>
            <a:ext cx="2514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bg1"/>
                </a:solidFill>
              </a:rPr>
              <a:t>GPS/GSM can provide patient location and remote 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</a:t>
            </a:r>
            <a:r>
              <a:rPr lang="en-IN" b="1" dirty="0">
                <a:solidFill>
                  <a:schemeClr val="bg1"/>
                </a:solidFill>
              </a:rPr>
              <a:t> communication.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53600" y="4259766"/>
            <a:ext cx="2057400" cy="370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en-IN" b="1" u="sng" dirty="0">
                <a:solidFill>
                  <a:schemeClr val="bg1"/>
                </a:solidFill>
              </a:rPr>
              <a:t> Extension</a:t>
            </a:r>
            <a:endParaRPr lang="en-IN" b="1" u="sng" dirty="0">
              <a:solidFill>
                <a:schemeClr val="bg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rPr>
                <a:solidFill>
                  <a:schemeClr val="bg1">
                    <a:lumMod val="50000"/>
                  </a:schemeClr>
                </a:solidFill>
              </a:rPr>
              <a:t>7th_Semester_Project_Pr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e</a:t>
            </a:r>
            <a:r>
              <a:rPr>
                <a:solidFill>
                  <a:schemeClr val="bg1">
                    <a:lumMod val="50000"/>
                  </a:schemeClr>
                </a:solidFill>
              </a:rPr>
              <a:t>sentation</a:t>
            </a:r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52400"/>
            <a:ext cx="11887200" cy="6553200"/>
          </a:xfrm>
          <a:prstGeom prst="rect">
            <a:avLst/>
          </a:prstGeom>
          <a:solidFill>
            <a:srgbClr val="0541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/>
          <p:nvPr/>
        </p:nvSpPr>
        <p:spPr>
          <a:xfrm>
            <a:off x="381000" y="381000"/>
            <a:ext cx="1128966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400" u="none" strike="noStrike" kern="0" cap="none" spc="0" normalizeH="0" dirty="0">
                <a:solidFill>
                  <a:srgbClr val="FAE4D5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Block  D</a:t>
            </a:r>
            <a:r>
              <a:rPr lang="en-US" sz="4400" u="none" strike="noStrike" kern="0" cap="none" spc="0" normalizeH="0" dirty="0" err="1">
                <a:solidFill>
                  <a:srgbClr val="FAE4D5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i</a:t>
            </a:r>
            <a:r>
              <a:rPr lang="en-US" sz="4400" u="none" strike="noStrike" kern="0" cap="none" spc="0" normalizeH="0" dirty="0">
                <a:solidFill>
                  <a:srgbClr val="FAE4D5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ag</a:t>
            </a:r>
            <a:r>
              <a:rPr lang="en-US" sz="4400" u="none" strike="noStrike" kern="0" cap="none" spc="0" normalizeH="0" dirty="0" err="1">
                <a:solidFill>
                  <a:srgbClr val="FAE4D5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ra</a:t>
            </a:r>
            <a:r>
              <a:rPr lang="en-US" sz="4400" u="none" strike="noStrike" kern="0" cap="none" spc="0" normalizeH="0" dirty="0">
                <a:solidFill>
                  <a:srgbClr val="FAE4D5"/>
                </a:solidFill>
                <a:uFillTx/>
                <a:latin typeface="Arial Black" panose="020B0A04020102020204" pitchFamily="34" charset="0"/>
                <a:cs typeface="Tahoma" panose="020B0604030504040204"/>
              </a:rPr>
              <a:t>m of Proposed System</a:t>
            </a:r>
            <a:endParaRPr lang="en-US" sz="4400" u="none" strike="noStrike" kern="0" cap="none" spc="0" normalizeH="0" dirty="0">
              <a:solidFill>
                <a:srgbClr val="FAE4D5"/>
              </a:solidFill>
              <a:uFillTx/>
              <a:latin typeface="Arial Black" panose="020B0A04020102020204" pitchFamily="34" charset="0"/>
              <a:cs typeface="Tahoma" panose="020B0604030504040204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>
                <a:solidFill>
                  <a:schemeClr val="bg1"/>
                </a:solidFill>
              </a:rPr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>
                <a:solidFill>
                  <a:schemeClr val="bg1"/>
                </a:solidFill>
              </a:rPr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7th_Semester_Project_Pr</a:t>
            </a:r>
            <a:r>
              <a:rPr lang="en-US">
                <a:solidFill>
                  <a:schemeClr val="bg1"/>
                </a:solidFill>
              </a:rPr>
              <a:t>e</a:t>
            </a:r>
            <a:r>
              <a:rPr>
                <a:solidFill>
                  <a:schemeClr val="bg1"/>
                </a:solidFill>
              </a:rPr>
              <a:t>sentation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219200"/>
            <a:ext cx="9753600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1752600" y="97750"/>
            <a:ext cx="58493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u="none" strike="noStrike" kern="0" cap="none" spc="0" normalizeH="0" dirty="0">
                <a:solidFill>
                  <a:srgbClr val="0070C0"/>
                </a:solidFill>
                <a:uFillTx/>
                <a:latin typeface="Arial Black" panose="020B0A04020102020204" pitchFamily="34" charset="0"/>
              </a:rPr>
              <a:t>Hardware &amp; Software Requ</a:t>
            </a:r>
            <a:r>
              <a:rPr lang="en-US" sz="3500" b="1" u="none" strike="noStrike" kern="0" cap="none" spc="0" normalizeH="0" dirty="0" err="1">
                <a:solidFill>
                  <a:srgbClr val="0070C0"/>
                </a:solidFill>
                <a:uFillTx/>
                <a:latin typeface="Arial Black" panose="020B0A04020102020204" pitchFamily="34" charset="0"/>
              </a:rPr>
              <a:t>i</a:t>
            </a:r>
            <a:r>
              <a:rPr lang="en-US" sz="3500" b="1" u="none" strike="noStrike" kern="0" cap="none" spc="0" normalizeH="0" dirty="0">
                <a:solidFill>
                  <a:srgbClr val="0070C0"/>
                </a:solidFill>
                <a:uFillTx/>
                <a:latin typeface="Arial Black" panose="020B0A04020102020204" pitchFamily="34" charset="0"/>
              </a:rPr>
              <a:t>rements</a:t>
            </a:r>
            <a:endParaRPr lang="en-US" sz="3500" b="1" u="none" strike="noStrike" kern="0" cap="none" spc="0" normalizeH="0" dirty="0">
              <a:solidFill>
                <a:srgbClr val="0070C0"/>
              </a:solidFill>
              <a:uFillTx/>
              <a:latin typeface="Arial Black" panose="020B0A040201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62000" y="1371441"/>
          <a:ext cx="10820400" cy="3807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8770"/>
                <a:gridCol w="5421630"/>
              </a:tblGrid>
              <a:tr h="290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HARDWARE REQUIREMENTS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r>
                        <a:rPr lang="en-US" alt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/Tool</a:t>
                      </a: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REQUIREMENTS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>
                    <a:solidFill>
                      <a:srgbClr val="4F81BD"/>
                    </a:solidFill>
                  </a:tcPr>
                </a:tc>
              </a:tr>
              <a:tr h="507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STM32F407VET6 ARM Cortex-M4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STM32CubeIDE</a:t>
                      </a:r>
                      <a:endParaRPr lang="en-IN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</a:tr>
              <a:tr h="507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2.8-inch SPI TFT Display, 240 × 320</a:t>
                      </a:r>
                      <a:r>
                        <a:rPr lang="en-US" alt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without touch</a:t>
                      </a:r>
                      <a:endParaRPr lang="en-US" alt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STM32Cube Programmer</a:t>
                      </a:r>
                      <a:endParaRPr lang="en-US" alt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</a:tr>
              <a:tr h="507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ST-LINK/V2 Programmer &amp; Debugger</a:t>
                      </a:r>
                      <a:endParaRPr 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STM32 HAL Library</a:t>
                      </a:r>
                      <a:endParaRPr 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</a:tr>
              <a:tr h="507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LSM6DSO 6-DOF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TensorFlow Lite Micro</a:t>
                      </a:r>
                      <a:endParaRPr 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</a:tr>
              <a:tr h="507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M</a:t>
                      </a:r>
                      <a:r>
                        <a:rPr 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AX30102 Pulse Oximeter</a:t>
                      </a:r>
                      <a:endParaRPr 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NumPy,Pandas,Matplotlib</a:t>
                      </a:r>
                      <a:endParaRPr lang="en-US" alt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</a:tr>
              <a:tr h="4146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AD8232 ECG Sensor Module Kit</a:t>
                      </a:r>
                      <a:r>
                        <a:rPr lang="en-US" alt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</a:t>
                      </a:r>
                      <a:endParaRPr 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 Flow Lite Micro/Edge Impulse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</a:tr>
              <a:tr h="5077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IN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Digital Storage Oscilloscope</a:t>
                      </a:r>
                      <a:endParaRPr lang="en-US" alt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72531" marR="72531" marT="36265" marB="3626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31" marR="72531" marT="36265" marB="36265" anchor="ctr"/>
                </a:tc>
              </a:tr>
            </a:tbl>
          </a:graphicData>
        </a:graphic>
      </p:graphicFrame>
      <p:sp>
        <p:nvSpPr>
          <p:cNvPr id="5" name="Parallelogram 4"/>
          <p:cNvSpPr/>
          <p:nvPr/>
        </p:nvSpPr>
        <p:spPr>
          <a:xfrm>
            <a:off x="-990600" y="6162357"/>
            <a:ext cx="5181600" cy="1199515"/>
          </a:xfrm>
          <a:prstGeom prst="parallelogram">
            <a:avLst/>
          </a:prstGeom>
          <a:ln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Parallelogram 6"/>
          <p:cNvSpPr/>
          <p:nvPr/>
        </p:nvSpPr>
        <p:spPr>
          <a:xfrm>
            <a:off x="8001000" y="-392012"/>
            <a:ext cx="5181600" cy="1199515"/>
          </a:xfrm>
          <a:prstGeom prst="parallelogram">
            <a:avLst/>
          </a:prstGeom>
          <a:ln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>
                <a:solidFill>
                  <a:schemeClr val="bg1"/>
                </a:solidFill>
              </a:rPr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0791" y="220978"/>
            <a:ext cx="11798809" cy="6560821"/>
          </a:xfrm>
          <a:custGeom>
            <a:avLst/>
            <a:gdLst/>
            <a:ahLst/>
            <a:cxnLst/>
            <a:rect l="l" t="t" r="r" b="b"/>
            <a:pathLst>
              <a:path w="6061075" h="6384290">
                <a:moveTo>
                  <a:pt x="6060948" y="0"/>
                </a:moveTo>
                <a:lnTo>
                  <a:pt x="0" y="0"/>
                </a:lnTo>
                <a:lnTo>
                  <a:pt x="0" y="6384036"/>
                </a:lnTo>
                <a:lnTo>
                  <a:pt x="6060948" y="6384036"/>
                </a:lnTo>
                <a:lnTo>
                  <a:pt x="6060948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19500" y="526732"/>
            <a:ext cx="4953000" cy="67691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Cost Estimation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0" y="1458595"/>
          <a:ext cx="8763000" cy="4248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6535"/>
                <a:gridCol w="4736465"/>
              </a:tblGrid>
              <a:tr h="414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Indicative Cost (₹)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STM32F407VET6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1800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14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 LINK V2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14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AD8232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729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14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 inch TFT Display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559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5162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LSM6DSO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379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14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MX30102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259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14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SOS + Buzzer + LE</a:t>
                      </a:r>
                      <a:r>
                        <a:rPr lang="en-US" alt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50-150</a:t>
                      </a:r>
                      <a:endParaRPr lang="en-US" alt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14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Miscellaneous</a:t>
                      </a: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Components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en-US" alt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4146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T</a:t>
                      </a: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otal Estimated Cost</a:t>
                      </a:r>
                      <a:endParaRPr lang="en-US" alt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5000 (Approx)</a:t>
                      </a:r>
                      <a:endParaRPr lang="en-US" alt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845" y="0"/>
            <a:ext cx="12162790" cy="6858000"/>
          </a:xfrm>
          <a:custGeom>
            <a:avLst/>
            <a:gdLst/>
            <a:ahLst/>
            <a:cxnLst/>
            <a:rect l="l" t="t" r="r" b="b"/>
            <a:pathLst>
              <a:path w="8769985" h="6858000">
                <a:moveTo>
                  <a:pt x="8769619" y="0"/>
                </a:moveTo>
                <a:lnTo>
                  <a:pt x="2073562" y="0"/>
                </a:lnTo>
                <a:lnTo>
                  <a:pt x="0" y="6858000"/>
                </a:lnTo>
                <a:lnTo>
                  <a:pt x="8769619" y="6858000"/>
                </a:lnTo>
                <a:lnTo>
                  <a:pt x="876961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08855" y="220878"/>
            <a:ext cx="478980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solidFill>
                  <a:srgbClr val="FFFFFF"/>
                </a:solidFill>
                <a:uFillTx/>
                <a:latin typeface="Arial Black" panose="020B0A04020102020204" pitchFamily="34" charset="0"/>
              </a:rPr>
              <a:t>Future Scope</a:t>
            </a:r>
            <a:endParaRPr lang="en-US" dirty="0">
              <a:solidFill>
                <a:srgbClr val="FFFFFF"/>
              </a:solidFill>
              <a:uFillTx/>
              <a:latin typeface="Arial Black" panose="020B0A040201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568065" y="1132205"/>
            <a:ext cx="8381365" cy="477583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GPS-based patient location tracking using the NEO-6M GPS module during an escalated emergency.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GSM-based remote emergency notification using the SIM800L to send an automatic SMS or initiate a call containing the patient's location and alert type.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Compact PCB implementation by moving from the breadboard prototype to a custom/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perfboard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layout.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Improved ECG hardware design with better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analog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signal routing, grounding, power-noise control and isolation.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Further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optimization for deployment on the STM32 and improvement of model performance.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Enclosure development to convert the prototype into a compact portable device.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Further system evaluation based on classification accuracy, response latency, false-alarm rate and battery life/power consumption.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Remote-notification capability as an optional extension after the core ECG +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+ fall-fusion system is fully functional.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752299"/>
            <a:ext cx="2949196" cy="3475021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>
                <a:solidFill>
                  <a:schemeClr val="bg2"/>
                </a:solidFill>
              </a:rPr>
            </a:fld>
            <a:endParaRPr lang="en-US">
              <a:solidFill>
                <a:schemeClr val="bg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>
                <a:solidFill>
                  <a:schemeClr val="bg2"/>
                </a:solidFill>
              </a:rPr>
            </a:fld>
            <a:endParaRPr>
              <a:solidFill>
                <a:schemeClr val="bg2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4145280" y="6400800"/>
            <a:ext cx="3901440" cy="276860"/>
          </a:xfrm>
        </p:spPr>
        <p:txBody>
          <a:bodyPr/>
          <a:lstStyle/>
          <a:p>
            <a:r>
              <a:rPr>
                <a:solidFill>
                  <a:schemeClr val="bg2"/>
                </a:solidFill>
              </a:rPr>
              <a:t>7th_Semester_Project_Pr</a:t>
            </a:r>
            <a:r>
              <a:rPr lang="en-US">
                <a:solidFill>
                  <a:schemeClr val="bg2"/>
                </a:solidFill>
              </a:rPr>
              <a:t>e</a:t>
            </a:r>
            <a:r>
              <a:rPr>
                <a:solidFill>
                  <a:schemeClr val="bg2"/>
                </a:solidFill>
              </a:rPr>
              <a:t>sentation</a:t>
            </a:r>
            <a:endParaRPr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70" y="144145"/>
            <a:ext cx="12058015" cy="6273165"/>
          </a:xfrm>
          <a:custGeom>
            <a:avLst/>
            <a:gdLst/>
            <a:ahLst/>
            <a:cxnLst/>
            <a:rect l="l" t="t" r="r" b="b"/>
            <a:pathLst>
              <a:path w="7722234" h="6273165">
                <a:moveTo>
                  <a:pt x="7722108" y="0"/>
                </a:moveTo>
                <a:lnTo>
                  <a:pt x="0" y="0"/>
                </a:lnTo>
                <a:lnTo>
                  <a:pt x="0" y="6272783"/>
                </a:lnTo>
                <a:lnTo>
                  <a:pt x="7722108" y="6272783"/>
                </a:lnTo>
                <a:lnTo>
                  <a:pt x="772210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62200" y="9270"/>
            <a:ext cx="4108450" cy="968375"/>
          </a:xfrm>
          <a:prstGeom prst="rect">
            <a:avLst/>
          </a:prstGeom>
        </p:spPr>
        <p:txBody>
          <a:bodyPr vert="horz" wrap="square" lIns="0" tIns="2915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solidFill>
                  <a:srgbClr val="FFFFFF"/>
                </a:solidFill>
                <a:uFillTx/>
                <a:latin typeface="Arial Black" panose="020B0A04020102020204" pitchFamily="34" charset="0"/>
              </a:rPr>
              <a:t>Conclus</a:t>
            </a:r>
            <a:r>
              <a:rPr lang="en-US" dirty="0" err="1">
                <a:solidFill>
                  <a:srgbClr val="FFFFFF"/>
                </a:solidFill>
                <a:uFillTx/>
                <a:latin typeface="Arial Black" panose="020B0A04020102020204" pitchFamily="34" charset="0"/>
              </a:rPr>
              <a:t>i</a:t>
            </a:r>
            <a:r>
              <a:rPr lang="en-US" dirty="0">
                <a:solidFill>
                  <a:srgbClr val="FFFFFF"/>
                </a:solidFill>
                <a:uFillTx/>
                <a:latin typeface="Arial Black" panose="020B0A04020102020204" pitchFamily="34" charset="0"/>
              </a:rPr>
              <a:t>on</a:t>
            </a:r>
            <a:endParaRPr lang="en-US" dirty="0">
              <a:solidFill>
                <a:srgbClr val="FFFFFF"/>
              </a:solidFill>
              <a:uFillTx/>
              <a:latin typeface="Arial Black" panose="020B0A040201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1069975"/>
            <a:ext cx="7124700" cy="5353685"/>
          </a:xfrm>
          <a:prstGeom prst="rect">
            <a:avLst/>
          </a:prstGeom>
        </p:spPr>
        <p:txBody>
          <a:bodyPr vert="horz" wrap="square" lIns="0" tIns="39370" rIns="0" bIns="0" rtlCol="0">
            <a:noAutofit/>
          </a:bodyPr>
          <a:lstStyle/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The project proposes a portable, battery-powered embedded cardiac-fall monitoring system based on an STM32 microcontroller. 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The system combines real-time ECG acquisition, digital signal processing and on-device </a:t>
            </a:r>
            <a:r>
              <a:rPr lang="en-IN" sz="2000" b="1" dirty="0" err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TinyML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rhythm classification. 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fusion and escalation mechanism is designed to raise a higher-priority alert when abnormal rhythm, abnormal vital signs and/or a fall occur within a defined time window. 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The core system is intended to operate fully offline, without dependence on internet connectivity, cloud processing or a paired computer. 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The project aims to progress from a breadboard-level prototype to a compact, integrated and battery-operated system, followed by performance evaluation. 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00" y="1295400"/>
            <a:ext cx="3774948" cy="4267200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>
          <a:xfrm>
            <a:off x="381000" y="6553200"/>
            <a:ext cx="2804160" cy="342900"/>
          </a:xfrm>
        </p:spPr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>
          <a:xfrm>
            <a:off x="8778240" y="6477000"/>
            <a:ext cx="2804160" cy="342900"/>
          </a:xfrm>
        </p:spPr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4038600" y="655193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35" y="635"/>
            <a:ext cx="12191365" cy="6856730"/>
          </a:xfrm>
          <a:prstGeom prst="rect">
            <a:avLst/>
          </a:prstGeom>
          <a:solidFill>
            <a:srgbClr val="0070C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75480" y="145415"/>
            <a:ext cx="4538345" cy="764540"/>
          </a:xfrm>
          <a:prstGeom prst="rect">
            <a:avLst/>
          </a:prstGeom>
        </p:spPr>
        <p:txBody>
          <a:bodyPr vert="horz" wrap="square" lIns="0" tIns="87960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T</a:t>
            </a:r>
            <a:r>
              <a:rPr lang="en-US" dirty="0" err="1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mel</a:t>
            </a:r>
            <a:r>
              <a:rPr lang="en-US" dirty="0" err="1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ne...</a:t>
            </a:r>
            <a:endParaRPr lang="en-US" dirty="0">
              <a:solidFill>
                <a:schemeClr val="bg1"/>
              </a:solidFill>
              <a:uFillTx/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485" y="914400"/>
            <a:ext cx="11753850" cy="5542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just">
              <a:lnSpc>
                <a:spcPct val="100000"/>
              </a:lnSpc>
            </a:pP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7th Semester:</a:t>
            </a:r>
            <a:endParaRPr lang="en-IN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1):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ECG acquisition using AD8232 and STM32 ADC interfacing.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2):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Implement ECG signal processing, including noise/baseline-wander removal, filtering, R-peak detection and real-time heart-rate calculation.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3):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Integrate </a:t>
            </a:r>
            <a:r>
              <a:rPr lang="en-US" alt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LSM6DSO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motion-based fall detection.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4):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Integrate MAX30102 for SpO₂/pulse monitoring and DS18B20 for body-temperature monitoring.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5):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Develop the supporting hardware, including </a:t>
            </a:r>
            <a:r>
              <a:rPr lang="en-US" alt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TFT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display, buzzer/LED alarm, SOS button and battery/charging circuit.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6):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Prepare ECG data from the MIT-BIH Arrhythmia Database and begin </a:t>
            </a:r>
            <a:r>
              <a:rPr lang="en-IN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 development for normal/abnormal rhythm classification.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7):</a:t>
            </a:r>
            <a:r>
              <a:rPr lang="en-I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Develop fusion/escalation logic and complete the breadboard-level prototype. </a:t>
            </a: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00000"/>
              </a:lnSpc>
            </a:pPr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6"/>
          </p:nvPr>
        </p:nvSpPr>
        <p:spPr>
          <a:xfrm>
            <a:off x="457200" y="6546850"/>
            <a:ext cx="2804160" cy="342900"/>
          </a:xfrm>
        </p:spPr>
        <p:txBody>
          <a:bodyPr/>
          <a:lstStyle/>
          <a:p>
            <a:fld id="{1D8BD707-D9CF-40AE-B4C6-C98DA3205C09}" type="datetime8">
              <a:rPr lang="en-US">
                <a:solidFill>
                  <a:schemeClr val="bg1"/>
                </a:solidFill>
              </a:rPr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>
                <a:solidFill>
                  <a:schemeClr val="bg1"/>
                </a:solidFill>
              </a:rPr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5"/>
          </p:nvPr>
        </p:nvSpPr>
        <p:spPr>
          <a:xfrm>
            <a:off x="4145280" y="6477000"/>
            <a:ext cx="3901440" cy="276860"/>
          </a:xfrm>
        </p:spPr>
        <p:txBody>
          <a:bodyPr/>
          <a:lstStyle/>
          <a:p>
            <a:r>
              <a:rPr>
                <a:solidFill>
                  <a:schemeClr val="bg1"/>
                </a:solidFill>
              </a:rPr>
              <a:t>7th_Semester_Project_Pr</a:t>
            </a:r>
            <a:r>
              <a:rPr lang="en-US">
                <a:solidFill>
                  <a:schemeClr val="bg1"/>
                </a:solidFill>
              </a:rPr>
              <a:t>e</a:t>
            </a:r>
            <a:r>
              <a:rPr>
                <a:solidFill>
                  <a:schemeClr val="bg1"/>
                </a:solidFill>
              </a:rPr>
              <a:t>sentation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860"/>
          </a:xfrm>
        </p:spPr>
        <p:txBody>
          <a:bodyPr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p>
            <a:r>
              <a:t>7th_Semester_Project_Prsentation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860"/>
          </a:xfrm>
        </p:spPr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-75565" y="635"/>
            <a:ext cx="12191365" cy="6856730"/>
          </a:xfrm>
          <a:prstGeom prst="rect">
            <a:avLst/>
          </a:prstGeom>
          <a:solidFill>
            <a:srgbClr val="0070C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75797" y="145659"/>
            <a:ext cx="3189605" cy="764540"/>
          </a:xfrm>
          <a:prstGeom prst="rect">
            <a:avLst/>
          </a:prstGeom>
        </p:spPr>
        <p:txBody>
          <a:bodyPr vert="horz" wrap="square" lIns="0" tIns="87960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T</a:t>
            </a:r>
            <a:r>
              <a:rPr lang="en-US" dirty="0" err="1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mel</a:t>
            </a:r>
            <a:r>
              <a:rPr lang="en-US" dirty="0" err="1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i</a:t>
            </a:r>
            <a:r>
              <a:rPr lang="en-US" dirty="0">
                <a:solidFill>
                  <a:schemeClr val="bg1"/>
                </a:solidFill>
                <a:uFillTx/>
                <a:latin typeface="Arial Black" panose="020B0A04020102020204" pitchFamily="34" charset="0"/>
              </a:rPr>
              <a:t>ne</a:t>
            </a:r>
            <a:endParaRPr lang="en-US" dirty="0">
              <a:solidFill>
                <a:schemeClr val="bg1"/>
              </a:solidFill>
              <a:uFillTx/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6865" y="914400"/>
            <a:ext cx="11623040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8th Semester: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1):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Integrate the </a:t>
            </a:r>
            <a:r>
              <a:rPr lang="en-IN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 with STM32 firmware and move towards a compact </a:t>
            </a:r>
            <a:r>
              <a:rPr lang="en-IN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perfboard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/custom-board implementation. 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2):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Deploy and optimize the </a:t>
            </a:r>
            <a:r>
              <a:rPr lang="en-IN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TinyML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 on the device and finalize the enclosure. 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(Week 3):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Perform end-to-end testing and evaluate classification accuracy, response latency, false-alarm rate and battery life. 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(Optional):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Add NEO-6M GPS and SIM800L GSM for remote emergency notification. 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Stage: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Complete documentation, final report and project demonstration.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/>
        </p:nvSpPr>
        <p:spPr>
          <a:xfrm>
            <a:off x="457200" y="654685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l"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8">
              <a:rPr lang="en-US">
                <a:solidFill>
                  <a:schemeClr val="bg1"/>
                </a:solidFill>
              </a:rPr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/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r"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>
                <a:solidFill>
                  <a:schemeClr val="bg1"/>
                </a:solidFill>
              </a:rPr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/>
        </p:nvSpPr>
        <p:spPr>
          <a:xfrm>
            <a:off x="4145280" y="6477000"/>
            <a:ext cx="3901440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algn="ctr"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bg1"/>
                </a:solidFill>
              </a:rPr>
              <a:t>7th_Semester_Project_Pr</a:t>
            </a:r>
            <a:r>
              <a:rPr lang="en-US">
                <a:solidFill>
                  <a:schemeClr val="bg1"/>
                </a:solidFill>
              </a:rPr>
              <a:t>e</a:t>
            </a:r>
            <a:r>
              <a:rPr>
                <a:solidFill>
                  <a:schemeClr val="bg1"/>
                </a:solidFill>
              </a:rPr>
              <a:t>sentation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43400" y="222250"/>
            <a:ext cx="5668645" cy="676910"/>
          </a:xfrm>
          <a:prstGeom prst="rect">
            <a:avLst/>
          </a:prstGeom>
        </p:spPr>
        <p:txBody>
          <a:bodyPr wrap="square"/>
          <a:lstStyle/>
          <a:p>
            <a:r>
              <a:rPr lang="en-US" dirty="0">
                <a:latin typeface="Arial Black" panose="020B0A04020102020204" pitchFamily="34" charset="0"/>
              </a:rPr>
              <a:t>References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20" y="990600"/>
            <a:ext cx="12004675" cy="27285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S. Nagarajan and K. Polachan, "ArrythML: An autoencoder-based TinyML approach for on-device arrhythmia detection on resource-constrained embedded systems," arXiv preprint arXiv:2606.02256, Jun. 2026.</a:t>
            </a:r>
            <a:endParaRPr lang="en-US" alt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M. Zambrano-de la Torre, S. Guzman-Alfaro, A. Acuña-Correa, M. A. Soto-Murillo, M. Guzmán-Fernández, R. Robles-Ortiz, K. E. Villagrana-Bañuelos, J. G. Arceo-Olague, C. H. Espino-Salinas, A. G. Sánchez-Reyna, and E. O. Cuevas-Rodriguez, "Real-time cardiac arrhythmia classification using TinyML on ultra-low-cost microcontrollers: A feasibility study for resource-constrained environments," Bioengineering, vol. 13, no. 5, p. 532, May 2026, doi: 10.3390/bioengineering13050532.</a:t>
            </a:r>
            <a:endParaRPr lang="en-US" alt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 A. C. Chhoton and A. K. Sharma, "Internet of Medical Things: A revolution in healthcare for enhancing cardiac monitoring and patient-care through wearables," in Proc. 2024 3rd Edition of IEEE Delhi Section Flagship Conf. (DELCON), 2024, doi: 10.1109/DELCON64804.2024.10866524.</a:t>
            </a:r>
            <a:endParaRPr lang="en-US" alt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 M. Moshawrab, M. Adda, A. Bouzouane, H. Ibrahim, and A. Raad, "Smart wearables for the detection of cardiovascular diseases: A systematic literature review," Sensors, vol. 23, no. 2, p. 828, Jan. 2023, doi: 10.3390/s23020828.</a:t>
            </a:r>
            <a:endParaRPr lang="en-US" alt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D8BD707-D9CF-40AE-B4C6-C98DA3205C09}" type="datetime8">
              <a:rPr lang="en-US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860"/>
          </a:xfrm>
        </p:spPr>
        <p:txBody>
          <a:bodyPr/>
          <a:lstStyle/>
          <a:p>
            <a:r>
              <a:t>7th_Semester_Project_Pr</a:t>
            </a:r>
            <a:r>
              <a:rPr lang="en-US"/>
              <a:t>e</a:t>
            </a:r>
            <a:r>
              <a:t>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11764</Words>
  <Application>WPS Presentation</Application>
  <PresentationFormat>Widescreen</PresentationFormat>
  <Paragraphs>395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Tahoma</vt:lpstr>
      <vt:lpstr>Arial MT</vt:lpstr>
      <vt:lpstr>Times New Roman</vt:lpstr>
      <vt:lpstr>Arial Black</vt:lpstr>
      <vt:lpstr>Tahoma</vt:lpstr>
      <vt:lpstr>Aptos</vt:lpstr>
      <vt:lpstr>Segoe UI</vt:lpstr>
      <vt:lpstr>Microsoft YaHei</vt:lpstr>
      <vt:lpstr>Arial Unicode MS</vt:lpstr>
      <vt:lpstr>Calibri</vt:lpstr>
      <vt:lpstr>Office Theme</vt:lpstr>
      <vt:lpstr>PowerPoint 演示文稿</vt:lpstr>
      <vt:lpstr>TOPICS TO BE COVERED</vt:lpstr>
      <vt:lpstr>INTRODUCTION</vt:lpstr>
      <vt:lpstr>PowerPoint 演示文稿</vt:lpstr>
      <vt:lpstr>     Literature  Survey...</vt:lpstr>
      <vt:lpstr>Literature  Survey</vt:lpstr>
      <vt:lpstr>PowerPoint 演示文稿</vt:lpstr>
      <vt:lpstr>PowerPoint 演示文稿</vt:lpstr>
      <vt:lpstr>OBJECTIVES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Cost Estimation</vt:lpstr>
      <vt:lpstr>Future Scope</vt:lpstr>
      <vt:lpstr>Conclusion</vt:lpstr>
      <vt:lpstr>Timeline...</vt:lpstr>
      <vt:lpstr>Timeline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Cardiac health monitor using Node MCU and esp8266</dc:title>
  <dc:creator>Shreyas Jaipuriar</dc:creator>
  <cp:lastModifiedBy>KIIT0001</cp:lastModifiedBy>
  <cp:revision>33</cp:revision>
  <dcterms:created xsi:type="dcterms:W3CDTF">2026-08-30T04:38:00Z</dcterms:created>
  <dcterms:modified xsi:type="dcterms:W3CDTF">2026-09-03T14:34:10Z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2023-02-24T14:30:00Z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2026-08-31T14:30:00Z</vt:filetime>
  </property>
  <property fmtid="{D5CDD505-2E9C-101B-9397-08002B2CF9AE}" pid="6" name="Producer">
    <vt:lpwstr>Microsoft® PowerPoint® 2016</vt:lpwstr>
  </property>
  <property fmtid="{D5CDD505-2E9C-101B-9397-08002B2CF9AE}" pid="7" name="KSOProductBuildVer">
    <vt:lpwstr>1033-12.1.0.28485</vt:lpwstr>
  </property>
  <property fmtid="{D5CDD505-2E9C-101B-9397-08002B2CF9AE}" pid="8" name="ICV">
    <vt:lpwstr>FC3F0E75497C438788CEAF2CEF0CC769_13</vt:lpwstr>
  </property>
</Properties>
</file>